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 (000s)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Budget</c:v>
                  </c:pt>
                  <c:pt idx="1">
                    <c:v>Earned</c:v>
                  </c:pt>
                  <c:pt idx="2">
                    <c:v>Actual</c:v>
                  </c:pt>
                  <c:pt idx="3">
                    <c:v>Forecast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530</c:v>
                </c:pt>
                <c:pt idx="1">
                  <c:v>320</c:v>
                </c:pt>
                <c:pt idx="2">
                  <c:v>263</c:v>
                </c:pt>
                <c:pt idx="3">
                  <c:v>459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3C2B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3C2B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ETIP is a production-grade, multi-tenant platform for managing projects, programs, portfolios and enterprise transformation — combining planning, execution, governance and intelligence in one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Executives lack a single, measured view. ETIP replaces fragmented tooling with one governed, evidence-based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pillars map to what different stakeholders need from the same system of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table carries a UUID primary key, audit fields, a version column and soft-delete. The build ships with 418 automated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capability groups spanning delivery, portfolio, governance, financials, risk, resources, intelligence, AI and integrations.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EVM turns raw project data into SPI/CPI, EAC/ETC and health, rolled up for executives. The chart illustrates budget vs earned vs actual vs forecast.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Cost, EAC, ETC and budget are first-class on the dashboard — reconciled with the executive narrative on the same EVM basis.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canonical six-gate SDLC workflow governs each project, with recorded approvals, separation of duties, and a portfolio roll-up.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Financial milestones tie money to deliverables: submit → review → accept → release, with the release posting an actual to the ledger.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Per-project KPI scorecards give delivery leads a focused view while executives keep the rollup.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ETIP includes an AI-assisted delivery pipeline that generates, builds, tests, QA-checks and deploys — gated on quality thresholds.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Clean layering, multi-tenancy, defense-in-depth security and full auditability are foundational, not add-ons.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ETIP integrates through webhooks, API keys, SSO and Jira, and exports board-ready packs.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to action: install in one command, explore the demo, and validate with the test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103120"/>
            <a:ext cx="822960" cy="822960"/>
          </a:xfrm>
          <a:prstGeom prst="roundRect">
            <a:avLst>
              <a:gd name="adj" fmla="val 15556"/>
            </a:avLst>
          </a:prstGeom>
          <a:solidFill>
            <a:srgbClr val="0E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08483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21488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ETIP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3200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Transformation Intelligence Platform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3794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3C2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Plan.  Execute.  Govern.  Transform.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5852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  ·  2026 Build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is hard to see and harder to govern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502920" cy="50292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39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8483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tooling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9748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in MS Project, work in Jira, money in spreadsheets, status in slides — no single source of truth.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25780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2057400"/>
            <a:ext cx="502920" cy="50292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2039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08483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to real status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69748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is reported, not measured. Cost overruns and slippage surface too late to act.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525780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160520"/>
            <a:ext cx="502920" cy="50292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142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&lt;&gt;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18795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governance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80060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gates and approvals live in email; sign-offs and payments aren't linked to deliverables.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931920"/>
            <a:ext cx="525780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4160520"/>
            <a:ext cx="502920" cy="50292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4142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18795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not tracked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480060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 are set but benefits, EAC and ETC are rarely tracked to completion.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four disciplines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ETIP unifies delivery and executive intelligence: teams plan and execute the work, leaders govern it through stage gates, and an Earned-Value intelligence layer measures it end to end — all multi-tenant, auditable and secure.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18263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880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52044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Portfolios, programs, projects, roadmaps, milestones &amp; resources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10712" y="265176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0F1B2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10712" y="2880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3639312" y="352044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Tasks, sprints, RAID, change, timesheets &amp; documents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81344" y="265176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18263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81344" y="2880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409944" y="352044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stage gates, approvals, financial milestones &amp; RBAC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951976" y="265176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0F1B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51976" y="2880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9180576" y="352044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EVM intelligence, forecasts, KPIs, benefits &amp; AI delivery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by construction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2176272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8346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modules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09067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capability areas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29000" y="20116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74720" y="2176272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EVM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8346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Value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309067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· CPI · EAC · ETC · VAC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20116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263640" y="2176272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418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8346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309067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ruff + mypy clean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06840" y="20116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052560" y="2176272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28346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isolation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9052560" y="309067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· dept · BU · project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37947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85800" y="3959352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46177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Permission-based access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487375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refresh, audit trail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29000" y="37947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3474720" y="3959352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3400" dirty="0"/>
          </a:p>
        </p:txBody>
      </p:sp>
      <p:sp>
        <p:nvSpPr>
          <p:cNvPr id="26" name="Text 24"/>
          <p:cNvSpPr txBox="1"/>
          <p:nvPr/>
        </p:nvSpPr>
        <p:spPr>
          <a:xfrm>
            <a:off x="3474720" y="46177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3474720" y="487375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→ Service → Repo → DB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17920" y="37947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263640" y="3959352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3400" dirty="0"/>
          </a:p>
        </p:txBody>
      </p:sp>
      <p:sp>
        <p:nvSpPr>
          <p:cNvPr id="30" name="Text 28"/>
          <p:cNvSpPr txBox="1"/>
          <p:nvPr/>
        </p:nvSpPr>
        <p:spPr>
          <a:xfrm>
            <a:off x="6263640" y="46177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UI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263640" y="487375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fonts + charts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006840" y="37947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9052560" y="3959352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400" dirty="0"/>
          </a:p>
        </p:txBody>
      </p:sp>
      <p:sp>
        <p:nvSpPr>
          <p:cNvPr id="34" name="Text 32"/>
          <p:cNvSpPr txBox="1"/>
          <p:nvPr/>
        </p:nvSpPr>
        <p:spPr>
          <a:xfrm>
            <a:off x="9052560" y="46177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 writes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9052560" y="487375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· version · soft-delete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transformation office needs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74720" cy="1280160"/>
          </a:xfrm>
          <a:prstGeom prst="roundRect">
            <a:avLst>
              <a:gd name="adj" fmla="val 5000"/>
            </a:avLst>
          </a:prstGeom>
          <a:solidFill>
            <a:srgbClr val="F7F9FB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002536"/>
            <a:ext cx="384048" cy="384048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9842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98424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44144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· Tasks · Sprints · Milestones · Dependencies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474720" cy="1280160"/>
          </a:xfrm>
          <a:prstGeom prst="roundRect">
            <a:avLst>
              <a:gd name="adj" fmla="val 5000"/>
            </a:avLst>
          </a:prstGeom>
          <a:solidFill>
            <a:srgbClr val="F7F9FB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44568" y="2002536"/>
            <a:ext cx="384048" cy="384048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44568" y="19842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074920" y="198424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44144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Portfolios · Programs · Roadmaps · Prioritisation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046720" y="1783080"/>
            <a:ext cx="3474720" cy="1280160"/>
          </a:xfrm>
          <a:prstGeom prst="roundRect">
            <a:avLst>
              <a:gd name="adj" fmla="val 5000"/>
            </a:avLst>
          </a:prstGeom>
          <a:solidFill>
            <a:srgbClr val="F7F9FB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47888" y="2002536"/>
            <a:ext cx="384048" cy="384048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47888" y="19842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778240" y="198424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244144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stage gates · Approvals · Change control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640080" y="3246120"/>
            <a:ext cx="3474720" cy="1280160"/>
          </a:xfrm>
          <a:prstGeom prst="roundRect">
            <a:avLst>
              <a:gd name="adj" fmla="val 5000"/>
            </a:avLst>
          </a:prstGeom>
          <a:solidFill>
            <a:srgbClr val="F7F9FB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" y="3465576"/>
            <a:ext cx="384048" cy="384048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41248" y="34472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34472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390448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· Cost ledger · EAC/ETC · Benefits · Procurement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4343400" y="3246120"/>
            <a:ext cx="3474720" cy="1280160"/>
          </a:xfrm>
          <a:prstGeom prst="roundRect">
            <a:avLst>
              <a:gd name="adj" fmla="val 5000"/>
            </a:avLst>
          </a:prstGeom>
          <a:solidFill>
            <a:srgbClr val="F7F9FB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44568" y="3465576"/>
            <a:ext cx="384048" cy="384048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44568" y="34472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074920" y="34472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RAID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390448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· Issues · Assumptions · Dependencies · Heat maps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8046720" y="3246120"/>
            <a:ext cx="3474720" cy="1280160"/>
          </a:xfrm>
          <a:prstGeom prst="roundRect">
            <a:avLst>
              <a:gd name="adj" fmla="val 5000"/>
            </a:avLst>
          </a:prstGeom>
          <a:solidFill>
            <a:srgbClr val="F7F9FB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47888" y="3465576"/>
            <a:ext cx="384048" cy="384048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47888" y="34472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778240" y="34472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390448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· Allocation · Utilisation · Timesheets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640080" y="4709160"/>
            <a:ext cx="3474720" cy="1280160"/>
          </a:xfrm>
          <a:prstGeom prst="roundRect">
            <a:avLst>
              <a:gd name="adj" fmla="val 5000"/>
            </a:avLst>
          </a:prstGeom>
          <a:solidFill>
            <a:srgbClr val="F7F9FB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1248" y="4928616"/>
            <a:ext cx="384048" cy="384048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41248" y="49103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1371600" y="49103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868680" y="536752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EVM · Variance · Forecast · KPIs · Recommendations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4343400" y="4709160"/>
            <a:ext cx="3474720" cy="1280160"/>
          </a:xfrm>
          <a:prstGeom prst="roundRect">
            <a:avLst>
              <a:gd name="adj" fmla="val 5000"/>
            </a:avLst>
          </a:prstGeom>
          <a:solidFill>
            <a:srgbClr val="F7F9FB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44568" y="4928616"/>
            <a:ext cx="384048" cy="384048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544568" y="49103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5074920" y="49103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Delivery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4572000" y="536752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 · AI code-gen · Build/QA/deploy pipeline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8046720" y="4709160"/>
            <a:ext cx="3474720" cy="1280160"/>
          </a:xfrm>
          <a:prstGeom prst="roundRect">
            <a:avLst>
              <a:gd name="adj" fmla="val 5000"/>
            </a:avLst>
          </a:prstGeom>
          <a:solidFill>
            <a:srgbClr val="F7F9FB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47888" y="4928616"/>
            <a:ext cx="384048" cy="384048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8247888" y="49103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8778240" y="49103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350" dirty="0"/>
          </a:p>
        </p:txBody>
      </p:sp>
      <p:sp>
        <p:nvSpPr>
          <p:cNvPr id="48" name="Text 46"/>
          <p:cNvSpPr txBox="1"/>
          <p:nvPr/>
        </p:nvSpPr>
        <p:spPr>
          <a:xfrm>
            <a:off x="8275320" y="536752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 · API keys · SSO · Jira · Board-pack export</a:t>
            </a:r>
            <a:endParaRPr lang="en-US" sz="9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INTELLIGENCE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that is measured, not reported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intelligence layer computes Earned Value across every project and rolls it up to program, portfolio and the whole transformation — with a plain-language executive briefing and prioritised recommendations.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3182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318211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 </a:t>
            </a:r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SPI, CPI, health RAG per project &amp; rollup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950208"/>
            <a:ext cx="457200" cy="45720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9319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 </a:t>
            </a:r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dates, slippage, cost overrun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700016"/>
            <a:ext cx="457200" cy="45720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681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468172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 </a:t>
            </a:r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/ cost / budget, favourable vs adverse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5449824"/>
            <a:ext cx="457200" cy="45720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5431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5431536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 </a:t>
            </a:r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actions with rationale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0" y="164592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0F1B2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EVM (illustrative)</a:t>
            </a:r>
            <a:endParaRPr lang="en-US" sz="13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6583680" y="2286000"/>
          <a:ext cx="47548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BUDGET CONTROL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money view, on the main dashboard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226771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926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at completion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1821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approved baseline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871216" y="210312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916936" y="226771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2916936" y="2926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date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916936" y="31821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actuals from the ledger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102352" y="210312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148072" y="226771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5148072" y="2926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at completion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148072" y="31821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 × AC / EV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33488" y="210312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379208" y="226771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7379208" y="2926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complete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379208" y="31821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 − AC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564624" y="210312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610344" y="226771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9610344" y="2926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610344" y="31821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/ over budget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0233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as headline tiles and as per-project columns (Budget · Cost · EAC · ETC) — with EAC flagged red wherever it exceeds budget. Available at transformation, portfolio and single-project scope.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project runs the SDLC gates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43000" y="2377440"/>
            <a:ext cx="640080" cy="6400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23591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783080" y="2697480"/>
            <a:ext cx="713232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1546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99232" y="2377440"/>
            <a:ext cx="640080" cy="6400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999232" y="23591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39312" y="2697480"/>
            <a:ext cx="713232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04872" y="31546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55464" y="2377440"/>
            <a:ext cx="640080" cy="6400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55464" y="23591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95544" y="2697480"/>
            <a:ext cx="713232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61104" y="31546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11696" y="2377440"/>
            <a:ext cx="640080" cy="6400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11696" y="23591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51776" y="2697480"/>
            <a:ext cx="713232" cy="0"/>
          </a:xfrm>
          <a:prstGeom prst="line">
            <a:avLst/>
          </a:prstGeom>
          <a:noFill/>
          <a:ln w="25400">
            <a:solidFill>
              <a:srgbClr val="E4E9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17336" y="31546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Test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567928" y="2377440"/>
            <a:ext cx="640080" cy="640080"/>
          </a:xfrm>
          <a:prstGeom prst="ellipse">
            <a:avLst/>
          </a:prstGeom>
          <a:solidFill>
            <a:srgbClr val="E4E9F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567928" y="23591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208008" y="2697480"/>
            <a:ext cx="713232" cy="0"/>
          </a:xfrm>
          <a:prstGeom prst="line">
            <a:avLst/>
          </a:prstGeom>
          <a:noFill/>
          <a:ln w="25400">
            <a:solidFill>
              <a:srgbClr val="E4E9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73568" y="31546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424160" y="2377440"/>
            <a:ext cx="640080" cy="640080"/>
          </a:xfrm>
          <a:prstGeom prst="ellipse">
            <a:avLst/>
          </a:prstGeom>
          <a:solidFill>
            <a:srgbClr val="E4E9F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424160" y="23591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829800" y="31546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4206240"/>
            <a:ext cx="3474720" cy="1737360"/>
          </a:xfrm>
          <a:prstGeom prst="roundRect">
            <a:avLst>
              <a:gd name="adj" fmla="val 3684"/>
            </a:avLst>
          </a:prstGeom>
          <a:solidFill>
            <a:srgbClr val="F7F9FB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68680" y="4389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approvals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" y="484632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gate sign-off is captured with approver and date, and audited.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343400" y="4206240"/>
            <a:ext cx="3474720" cy="1737360"/>
          </a:xfrm>
          <a:prstGeom prst="roundRect">
            <a:avLst>
              <a:gd name="adj" fmla="val 3684"/>
            </a:avLst>
          </a:prstGeom>
          <a:solidFill>
            <a:srgbClr val="F7F9FB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72000" y="4389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duties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0" y="484632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approver must differ from the initiator — enforced by the engine.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046720" y="4206240"/>
            <a:ext cx="3474720" cy="1737360"/>
          </a:xfrm>
          <a:prstGeom prst="roundRect">
            <a:avLst>
              <a:gd name="adj" fmla="val 3684"/>
            </a:avLst>
          </a:prstGeom>
          <a:solidFill>
            <a:srgbClr val="F7F9FB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75320" y="4389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roll-up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8275320" y="484632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gates approved, pending and awaiting your sign-off across all projects.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SPEND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linked to accepted deliverables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F7F9FB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423160"/>
            <a:ext cx="457200" cy="45720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404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45059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6324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submitted for acceptance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127248" y="27432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10712" y="219456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F7F9FB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39312" y="2423160"/>
            <a:ext cx="457200" cy="45720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39312" y="2404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233672" y="245059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639312" y="306324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reviewed at the gate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897880" y="27432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181344" y="219456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F7F9FB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9944" y="2423160"/>
            <a:ext cx="457200" cy="45720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9944" y="2404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004304" y="245059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09944" y="306324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accepts (different approver)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668512" y="27432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951976" y="219456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0F1B2D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80576" y="242316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80576" y="2404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774936" y="245059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180576" y="306324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posts to the project ledger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457200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financial milestone names its deliverable and the payment it releases. The payment cannot be released until the deliverable is accepted at the gate — so spend always follows verified value, and posts straight to the cost ledger.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ONE PROJECT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scorecard for every project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any project and the dashboard refocuses to it — its EVM, cost, benefits and a KPI scorecard. Each project carries its own KPI register: baseline, current and target, with live attainment and on/off-track status.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3364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3364992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KPI register  </a:t>
            </a:r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KPIs per project, higher- or lower-is-better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4251960"/>
            <a:ext cx="457200" cy="45720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4233672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attainment  </a:t>
            </a:r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from baseline to target, on/off-track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5120640"/>
            <a:ext cx="457200" cy="45720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5102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5102352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in place  </a:t>
            </a:r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update values and remove from the workspace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0" y="173736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583680" y="190195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2286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/ 4.5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583680" y="2971800"/>
            <a:ext cx="2103120" cy="146304"/>
          </a:xfrm>
          <a:prstGeom prst="roundRect">
            <a:avLst>
              <a:gd name="adj" fmla="val 50000"/>
            </a:avLst>
          </a:prstGeom>
          <a:solidFill>
            <a:srgbClr val="E7ECF2"/>
          </a:solidFill>
          <a:ln/>
        </p:spPr>
      </p:sp>
      <p:sp>
        <p:nvSpPr>
          <p:cNvPr id="18" name="Shape 16"/>
          <p:cNvSpPr/>
          <p:nvPr/>
        </p:nvSpPr>
        <p:spPr>
          <a:xfrm>
            <a:off x="6583680" y="2971800"/>
            <a:ext cx="1451153" cy="14630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83680" y="32004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69% attained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052560" y="173736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235440" y="190195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9235440" y="2286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/ 85 %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235440" y="2971800"/>
            <a:ext cx="2103120" cy="146304"/>
          </a:xfrm>
          <a:prstGeom prst="roundRect">
            <a:avLst>
              <a:gd name="adj" fmla="val 50000"/>
            </a:avLst>
          </a:prstGeom>
          <a:solidFill>
            <a:srgbClr val="E7ECF2"/>
          </a:solidFill>
          <a:ln/>
        </p:spPr>
      </p:sp>
      <p:sp>
        <p:nvSpPr>
          <p:cNvPr id="24" name="Shape 22"/>
          <p:cNvSpPr/>
          <p:nvPr/>
        </p:nvSpPr>
        <p:spPr>
          <a:xfrm>
            <a:off x="9235440" y="2971800"/>
            <a:ext cx="1976933" cy="146304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235440" y="32004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 attained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0" y="38862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583680" y="40507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583680" y="44348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30 min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583680" y="5120640"/>
            <a:ext cx="2103120" cy="146304"/>
          </a:xfrm>
          <a:prstGeom prst="roundRect">
            <a:avLst>
              <a:gd name="adj" fmla="val 50000"/>
            </a:avLst>
          </a:prstGeom>
          <a:solidFill>
            <a:srgbClr val="E7ECF2"/>
          </a:solidFill>
          <a:ln/>
        </p:spPr>
      </p:sp>
      <p:sp>
        <p:nvSpPr>
          <p:cNvPr id="30" name="Shape 28"/>
          <p:cNvSpPr/>
          <p:nvPr/>
        </p:nvSpPr>
        <p:spPr>
          <a:xfrm>
            <a:off x="6583680" y="5120640"/>
            <a:ext cx="1303934" cy="14630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83680" y="5349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attained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052560" y="38862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9235440" y="40507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9235440" y="44348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/ 80 %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9235440" y="5120640"/>
            <a:ext cx="2103120" cy="146304"/>
          </a:xfrm>
          <a:prstGeom prst="roundRect">
            <a:avLst>
              <a:gd name="adj" fmla="val 50000"/>
            </a:avLst>
          </a:prstGeom>
          <a:solidFill>
            <a:srgbClr val="E7ECF2"/>
          </a:solidFill>
          <a:ln/>
        </p:spPr>
      </p:sp>
      <p:sp>
        <p:nvSpPr>
          <p:cNvPr id="36" name="Shape 34"/>
          <p:cNvSpPr/>
          <p:nvPr/>
        </p:nvSpPr>
        <p:spPr>
          <a:xfrm>
            <a:off x="9235440" y="5120640"/>
            <a:ext cx="1787652" cy="146304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235440" y="5349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attained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DELIVERY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spec to deployed, with a quality gate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645920" cy="822960"/>
          </a:xfrm>
          <a:prstGeom prst="roundRect">
            <a:avLst>
              <a:gd name="adj" fmla="val 11111"/>
            </a:avLst>
          </a:prstGeom>
          <a:solidFill>
            <a:srgbClr val="0E948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2377440"/>
            <a:ext cx="2103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496312" y="2377440"/>
            <a:ext cx="1645920" cy="822960"/>
          </a:xfrm>
          <a:prstGeom prst="roundRect">
            <a:avLst>
              <a:gd name="adj" fmla="val 11111"/>
            </a:avLst>
          </a:prstGeom>
          <a:solidFill>
            <a:srgbClr val="0F1B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496312" y="23774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142232" y="2377440"/>
            <a:ext cx="2103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52544" y="2377440"/>
            <a:ext cx="1645920" cy="822960"/>
          </a:xfrm>
          <a:prstGeom prst="roundRect">
            <a:avLst>
              <a:gd name="adj" fmla="val 11111"/>
            </a:avLst>
          </a:prstGeom>
          <a:solidFill>
            <a:srgbClr val="0E948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52544" y="23774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98464" y="2377440"/>
            <a:ext cx="2103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08776" y="2377440"/>
            <a:ext cx="1645920" cy="822960"/>
          </a:xfrm>
          <a:prstGeom prst="roundRect">
            <a:avLst>
              <a:gd name="adj" fmla="val 11111"/>
            </a:avLst>
          </a:prstGeom>
          <a:solidFill>
            <a:srgbClr val="0F1B2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08776" y="23774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review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854696" y="2377440"/>
            <a:ext cx="2103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065008" y="2377440"/>
            <a:ext cx="1645920" cy="822960"/>
          </a:xfrm>
          <a:prstGeom prst="roundRect">
            <a:avLst>
              <a:gd name="adj" fmla="val 11111"/>
            </a:avLst>
          </a:prstGeom>
          <a:solidFill>
            <a:srgbClr val="0E948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65008" y="23774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710928" y="2377440"/>
            <a:ext cx="2103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921240" y="2377440"/>
            <a:ext cx="1645920" cy="822960"/>
          </a:xfrm>
          <a:prstGeom prst="roundRect">
            <a:avLst>
              <a:gd name="adj" fmla="val 11111"/>
            </a:avLst>
          </a:prstGeom>
          <a:solidFill>
            <a:srgbClr val="0F1B2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921240" y="23774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 test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749040"/>
            <a:ext cx="3474720" cy="2011680"/>
          </a:xfrm>
          <a:prstGeom prst="roundRect">
            <a:avLst>
              <a:gd name="adj" fmla="val 3182"/>
            </a:avLst>
          </a:prstGeom>
          <a:solidFill>
            <a:srgbClr val="F7F9FB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" y="3977640"/>
            <a:ext cx="457200" cy="45720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8680" y="3959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463040" y="39136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 generation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" y="452628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and generate across 50+ technology stacks from a spec.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43400" y="3749040"/>
            <a:ext cx="3474720" cy="2011680"/>
          </a:xfrm>
          <a:prstGeom prst="roundRect">
            <a:avLst>
              <a:gd name="adj" fmla="val 3182"/>
            </a:avLst>
          </a:prstGeom>
          <a:solidFill>
            <a:srgbClr val="F7F9FB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3977640"/>
            <a:ext cx="457200" cy="45720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572000" y="3959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166360" y="39136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0" y="452628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Coverage, performance and passing tests are enforced before deploy.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046720" y="3749040"/>
            <a:ext cx="3474720" cy="2011680"/>
          </a:xfrm>
          <a:prstGeom prst="roundRect">
            <a:avLst>
              <a:gd name="adj" fmla="val 3182"/>
            </a:avLst>
          </a:prstGeom>
          <a:solidFill>
            <a:srgbClr val="F7F9FB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75320" y="3977640"/>
            <a:ext cx="457200" cy="45720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275320" y="3959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8869680" y="39136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reporters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8275320" y="452628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Actions, GitLab CI and Jenkins reporters included.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SECURITY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enterprise standards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502920" cy="50292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39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8483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9748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→ API → Service → Repository → Database, with dependency injection and the unit-of-work pattern.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25780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2057400"/>
            <a:ext cx="502920" cy="50292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2039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08483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69748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with departments, business units, roles and strict data isolation.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525780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114800"/>
            <a:ext cx="502920" cy="50292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096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14223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75488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permissions, JWT with refresh tokens, password hashing, rate limiting, security headers, OWASP-aware.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886200"/>
            <a:ext cx="525780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4114800"/>
            <a:ext cx="502920" cy="50292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4096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14223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475488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row: UUID key, created/modified by &amp; date, soft-delete, version and an audit trail.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YOUR 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connected, exportable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74720" cy="1737360"/>
          </a:xfrm>
          <a:prstGeom prst="roundRect">
            <a:avLst>
              <a:gd name="adj" fmla="val 3684"/>
            </a:avLst>
          </a:prstGeom>
          <a:solidFill>
            <a:srgbClr val="F7F9FB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48840"/>
            <a:ext cx="457200" cy="45720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30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1762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78892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events with a delivery outbox &amp; retries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474720" cy="1737360"/>
          </a:xfrm>
          <a:prstGeom prst="roundRect">
            <a:avLst>
              <a:gd name="adj" fmla="val 3684"/>
            </a:avLst>
          </a:prstGeom>
          <a:solidFill>
            <a:srgbClr val="F7F9FB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148840"/>
            <a:ext cx="457200" cy="45720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2130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21762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78892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access with scoped keys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920240"/>
            <a:ext cx="3474720" cy="1737360"/>
          </a:xfrm>
          <a:prstGeom prst="roundRect">
            <a:avLst>
              <a:gd name="adj" fmla="val 3684"/>
            </a:avLst>
          </a:prstGeom>
          <a:solidFill>
            <a:srgbClr val="F7F9FB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2148840"/>
            <a:ext cx="457200" cy="45720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75320" y="2130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869680" y="21762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278892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single sign-on configuration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886200"/>
            <a:ext cx="3474720" cy="1737360"/>
          </a:xfrm>
          <a:prstGeom prst="roundRect">
            <a:avLst>
              <a:gd name="adj" fmla="val 3684"/>
            </a:avLst>
          </a:prstGeom>
          <a:solidFill>
            <a:srgbClr val="F7F9FB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4114800"/>
            <a:ext cx="457200" cy="45720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4096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41422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7548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for issues &amp; delivery data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3886200"/>
            <a:ext cx="3474720" cy="1737360"/>
          </a:xfrm>
          <a:prstGeom prst="roundRect">
            <a:avLst>
              <a:gd name="adj" fmla="val 3684"/>
            </a:avLst>
          </a:prstGeom>
          <a:solidFill>
            <a:srgbClr val="F7F9FB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4114800"/>
            <a:ext cx="457200" cy="45720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72000" y="4096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166360" y="41422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packs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47548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XLSX &amp; PDF executive packs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3886200"/>
            <a:ext cx="3474720" cy="1737360"/>
          </a:xfrm>
          <a:prstGeom prst="roundRect">
            <a:avLst>
              <a:gd name="adj" fmla="val 3684"/>
            </a:avLst>
          </a:prstGeom>
          <a:solidFill>
            <a:srgbClr val="F7F9FB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75320" y="4114800"/>
            <a:ext cx="457200" cy="45720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75320" y="4096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869680" y="41422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API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47548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/ Swagger for every endpoint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2860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Plan. Execute. Govern. Transform.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00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3C2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governed source of truth for your transformation — measured with Earned Value, controlled at every gate, and ready to run today.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" y="4297680"/>
            <a:ext cx="365760" cy="36576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42793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42519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in one command — ./run.sh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4800600"/>
            <a:ext cx="365760" cy="36576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47823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47548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and explore the seeded demo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5303520"/>
            <a:ext cx="365760" cy="36576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5285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2578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every feature with the included guide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2026-09-27T03:50:14Z</dcterms:created>
  <dcterms:modified xsi:type="dcterms:W3CDTF">2026-09-27T03:50:14Z</dcterms:modified>
</cp:coreProperties>
</file>